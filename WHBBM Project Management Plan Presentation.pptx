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.xml" ContentType="application/vnd.openxmlformats-officedocument.presentationml.slide+xml"/>
  <ns0:Override PartName="/ppt/slides/slide20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  <ns0:sldId id="274" ns1:id="rId25"/>
    <ns0:sldId id="275" ns1:id="rId26"/>
  </ns0:sldIdLst>
  <ns0:sldSz cx="12192000" cy="6858000" type="screen4x3"/>
  <ns0:notesSz cx="6858000" cy="9144000"/>
  <ns0:embeddedFontLst>
    <ns0:embeddedFont>
      <ns0:font typeface="Inter"/>
      <ns0:bold ns1:id="rIdFont27"/>
      <ns0:regular ns1:id="rIdFont28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slide" Target="slides/slide16.xml" /><ns0:Relationship Id="rId23" Type="http://schemas.openxmlformats.org/officeDocument/2006/relationships/slide" Target="slides/slide17.xml" /><ns0:Relationship Id="rId24" Type="http://schemas.openxmlformats.org/officeDocument/2006/relationships/slide" Target="slides/slide18.xml" /><ns0:Relationship Id="rId25" Type="http://schemas.openxmlformats.org/officeDocument/2006/relationships/slide" Target="slides/slide19.xml" /><ns0:Relationship Id="rId26" Type="http://schemas.openxmlformats.org/officeDocument/2006/relationships/slide" Target="slides/slide20.xml" /><ns0:Relationship Id="rIdFont27" Type="http://schemas.openxmlformats.org/officeDocument/2006/relationships/font" Target="fonts/49b6440e-a879-4225-adb2-f210fd0122ef.fntdata" /><ns0:Relationship Id="rIdFont28" Type="http://schemas.openxmlformats.org/officeDocument/2006/relationships/font" Target="fonts/b456a4d4-4e3e-4a9a-91a2-3c77cfefe53b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305746"/>
            <a:ext cx="10972800" cy="81438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305746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737866"/>
            <a:ext cx="688776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60A5FA"/>
                </a:solidFill>
                <a:latin typeface="Inter"/>
              </a:rPr>
              <a:t>GRADUATION PROJECT MANAGEMENT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223641"/>
            <a:ext cx="10101262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Inter"/>
              </a:rPr>
              <a:t>Women Home-Based Business Marketplace (WHBBM)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553271"/>
            <a:ext cx="6405562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b="0" sz="1950" i="0" u="none">
                <a:solidFill>
                  <a:srgbClr val="94A3B8"/>
                </a:solidFill>
                <a:latin typeface="Inter"/>
              </a:rPr>
              <a:t>Project Management Plan — Home 2 Home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581971"/>
            <a:ext cx="1654968" cy="214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64748B"/>
                </a:solidFill>
                <a:latin typeface="Inter"/>
              </a:rPr>
              <a:t>TEAM LEADER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834383"/>
            <a:ext cx="1654968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F8FAFC"/>
                </a:solidFill>
                <a:latin typeface="Inter"/>
              </a:rPr>
              <a:t>Basant Ahmed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0775" y="4581971"/>
            <a:ext cx="6774656" cy="214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64748B"/>
                </a:solidFill>
                <a:latin typeface="Inter"/>
              </a:rPr>
              <a:t>TEAM MEMBERS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0775" y="4834383"/>
            <a:ext cx="6774656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F8FAFC"/>
                </a:solidFill>
                <a:latin typeface="Inter"/>
              </a:rPr>
              <a:t>Amr Emad, Aisha Hesham, Nouran Salem, Rahma Mahmoud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67700" y="4581971"/>
            <a:ext cx="2547937" cy="214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64748B"/>
                </a:solidFill>
                <a:latin typeface="Inter"/>
              </a:rPr>
              <a:t>SUPERVISOR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67700" y="4834383"/>
            <a:ext cx="2547937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F8FAFC"/>
                </a:solidFill>
                <a:latin typeface="Inter"/>
              </a:rPr>
              <a:t>Yassmine El Sharkawy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0314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700" y="250314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7950" y="250314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299844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68700" y="299844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27950" y="299844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9600" y="349374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68700" y="349374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27950" y="349374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9600" y="398904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68700" y="398904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27950" y="398904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9600" y="448434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68700" y="448434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27950" y="448434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9600" y="497964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68700" y="497964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27950" y="497964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600" y="457200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2563EB"/>
                </a:solidFill>
                <a:latin typeface="Inter"/>
              </a:rPr>
              <a:t>STRUCTURE OVERVIEW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762000"/>
            <a:ext cx="11582400" cy="434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1" sz="2850" i="0" u="none">
                <a:solidFill>
                  <a:srgbClr val="0F172A"/>
                </a:solidFill>
                <a:latin typeface="Inter"/>
              </a:rPr>
              <a:t>Presentation Agenda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725" y="2503140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2563EB"/>
                </a:solidFill>
                <a:latin typeface="Inter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6800" y="2531715"/>
            <a:ext cx="1940718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1E293B"/>
                </a:solidFill>
                <a:latin typeface="Inter"/>
              </a:rPr>
              <a:t>Project Lifecycle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25825" y="2503140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2563EB"/>
                </a:solidFill>
                <a:latin typeface="Inter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5900" y="2531715"/>
            <a:ext cx="2250281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1E293B"/>
                </a:solidFill>
                <a:latin typeface="Inter"/>
              </a:rPr>
              <a:t>Overview &amp; Charter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85075" y="2503140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2563EB"/>
                </a:solidFill>
                <a:latin typeface="Inter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85150" y="2531715"/>
            <a:ext cx="2595562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1E293B"/>
                </a:solidFill>
                <a:latin typeface="Inter"/>
              </a:rPr>
              <a:t>Scope &amp; Requirements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725" y="2998440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2563EB"/>
                </a:solidFill>
                <a:latin typeface="Inter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6800" y="3027015"/>
            <a:ext cx="2536031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1E293B"/>
                </a:solidFill>
                <a:latin typeface="Inter"/>
              </a:rPr>
              <a:t>Deliverables &amp; Criteria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25825" y="2998440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2563EB"/>
                </a:solidFill>
                <a:latin typeface="Inter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25900" y="3027015"/>
            <a:ext cx="271462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1E293B"/>
                </a:solidFill>
                <a:latin typeface="Inter"/>
              </a:rPr>
              <a:t>Work Breakdown (WBS)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85075" y="2998440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2563EB"/>
                </a:solidFill>
                <a:latin typeface="Inter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85150" y="3027015"/>
            <a:ext cx="2595562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1E293B"/>
                </a:solidFill>
                <a:latin typeface="Inter"/>
              </a:rPr>
              <a:t>Schedule &amp; Milestones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725" y="3493740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2563EB"/>
                </a:solidFill>
                <a:latin typeface="Inter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6800" y="3522315"/>
            <a:ext cx="2678906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1E293B"/>
                </a:solidFill>
                <a:latin typeface="Inter"/>
              </a:rPr>
              <a:t>Team &amp; Responsibilities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25825" y="3493740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2563EB"/>
                </a:solidFill>
                <a:latin typeface="Inter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25900" y="3522315"/>
            <a:ext cx="2345531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1E293B"/>
                </a:solidFill>
                <a:latin typeface="Inter"/>
              </a:rPr>
              <a:t>Communication Plan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85075" y="3493740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2563EB"/>
                </a:solidFill>
                <a:latin typeface="Inter"/>
              </a:rP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85150" y="3522315"/>
            <a:ext cx="2035968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1E293B"/>
                </a:solidFill>
                <a:latin typeface="Inter"/>
              </a:rPr>
              <a:t>Risk Management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725" y="3989040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2563EB"/>
                </a:solidFill>
                <a:latin typeface="Inter"/>
              </a:rPr>
              <a:t>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6800" y="4017615"/>
            <a:ext cx="2833687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1E293B"/>
                </a:solidFill>
                <a:latin typeface="Inter"/>
              </a:rPr>
              <a:t>Issues, Logs &amp; Decisions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25825" y="3989040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2563EB"/>
                </a:solidFill>
                <a:latin typeface="Inter"/>
              </a:rPr>
              <a:t>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25900" y="4017615"/>
            <a:ext cx="2321718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1E293B"/>
                </a:solidFill>
                <a:latin typeface="Inter"/>
              </a:rPr>
              <a:t>Resources &amp; Budget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85075" y="3989040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2563EB"/>
                </a:solidFill>
                <a:latin typeface="Inter"/>
              </a:rPr>
              <a:t>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85150" y="4017615"/>
            <a:ext cx="179784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1E293B"/>
                </a:solidFill>
                <a:latin typeface="Inter"/>
              </a:rPr>
              <a:t>Change Control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725" y="4484340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2563EB"/>
                </a:solidFill>
                <a:latin typeface="Inter"/>
              </a:rPr>
              <a:t>13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6800" y="4512915"/>
            <a:ext cx="2738437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1E293B"/>
                </a:solidFill>
                <a:latin typeface="Inter"/>
              </a:rPr>
              <a:t>Document Management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25825" y="4484340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2563EB"/>
                </a:solidFill>
                <a:latin typeface="Inter"/>
              </a:rPr>
              <a:t>14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25900" y="4512915"/>
            <a:ext cx="2345531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1E293B"/>
                </a:solidFill>
                <a:latin typeface="Inter"/>
              </a:rPr>
              <a:t>Progress Monitoring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85075" y="4484340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2563EB"/>
                </a:solidFill>
                <a:latin typeface="Inter"/>
              </a:rPr>
              <a:t>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85150" y="4512915"/>
            <a:ext cx="2881312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1E293B"/>
                </a:solidFill>
                <a:latin typeface="Inter"/>
              </a:rPr>
              <a:t>Stakeholder Engagement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6725" y="4979640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2563EB"/>
                </a:solidFill>
                <a:latin typeface="Inter"/>
              </a:rPr>
              <a:t>16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6800" y="5008215"/>
            <a:ext cx="2500312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1E293B"/>
                </a:solidFill>
                <a:latin typeface="Inter"/>
              </a:rPr>
              <a:t>Ethics &amp; Data Practice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25825" y="4979640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2563EB"/>
                </a:solidFill>
                <a:latin typeface="Inter"/>
              </a:rPr>
              <a:t>17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25900" y="5008215"/>
            <a:ext cx="2595562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1E293B"/>
                </a:solidFill>
                <a:latin typeface="Inter"/>
              </a:rPr>
              <a:t>Weekly Action Tracker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85075" y="4979640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2563EB"/>
                </a:solidFill>
                <a:latin typeface="Inter"/>
              </a:rPr>
              <a:t>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85150" y="5008215"/>
            <a:ext cx="2786062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1E293B"/>
                </a:solidFill>
                <a:latin typeface="Inter"/>
              </a:rPr>
              <a:t>Approval &amp; Commitment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41277"/>
            <a:ext cx="1790700" cy="2143125"/>
          </a:xfrm>
          <a:prstGeom prst="roundRect">
            <a:avLst>
              <a:gd name="adj" fmla="val 85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905125" y="2969865"/>
            <a:ext cx="1790700" cy="1885950"/>
          </a:xfrm>
          <a:prstGeom prst="roundRect">
            <a:avLst>
              <a:gd name="adj" fmla="val 85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200650" y="2841277"/>
            <a:ext cx="1790700" cy="2143125"/>
          </a:xfrm>
          <a:prstGeom prst="roundRect">
            <a:avLst>
              <a:gd name="adj" fmla="val 85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6175" y="2969865"/>
            <a:ext cx="1790700" cy="1885950"/>
          </a:xfrm>
          <a:prstGeom prst="roundRect">
            <a:avLst>
              <a:gd name="adj" fmla="val 85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791700" y="2969865"/>
            <a:ext cx="1790700" cy="1885950"/>
          </a:xfrm>
          <a:prstGeom prst="roundRect">
            <a:avLst>
              <a:gd name="adj" fmla="val 85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700" y="3798540"/>
            <a:ext cx="200025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8225" y="3798540"/>
            <a:ext cx="200025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0" y="3798540"/>
            <a:ext cx="200025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9275" y="3798540"/>
            <a:ext cx="200025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362" y="3117502"/>
            <a:ext cx="257175" cy="3429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9025" y="3246090"/>
            <a:ext cx="342900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1687" y="3117502"/>
            <a:ext cx="428625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0075" y="3246090"/>
            <a:ext cx="342900" cy="3429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4650" y="3246090"/>
            <a:ext cx="304800" cy="3429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457200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2563EB"/>
                </a:solidFill>
                <a:latin typeface="Inter"/>
              </a:rPr>
              <a:t>TOPIC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762000"/>
            <a:ext cx="11582400" cy="434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1" sz="2850" i="0" u="none">
                <a:solidFill>
                  <a:srgbClr val="0F172A"/>
                </a:solidFill>
                <a:latin typeface="Inter"/>
              </a:rPr>
              <a:t>Project Lifecycle Stages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2335" y="3612802"/>
            <a:ext cx="1825228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Inter"/>
              </a:rPr>
              <a:t>1. Initiate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793" y="3936652"/>
            <a:ext cx="1738312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Charter &amp; problem validation.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7860" y="3741390"/>
            <a:ext cx="1825228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Inter"/>
              </a:rPr>
              <a:t>2. Plan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31318" y="4065240"/>
            <a:ext cx="1738312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Baseline scope, WBS &amp; budget.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3385" y="3612802"/>
            <a:ext cx="1825228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Inter"/>
              </a:rPr>
              <a:t>3. Execute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26843" y="3936652"/>
            <a:ext cx="1738312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Build responsive-web MVP.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8910" y="3741390"/>
            <a:ext cx="1825228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Inter"/>
              </a:rPr>
              <a:t>4. Monitor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2368" y="4065240"/>
            <a:ext cx="1738312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Variance tracking &amp; logs.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74435" y="3741390"/>
            <a:ext cx="1825228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Inter"/>
              </a:rPr>
              <a:t>5. Close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17893" y="4065240"/>
            <a:ext cx="1738312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8-week pilot evaluation.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34075" y="2336452"/>
            <a:ext cx="5648325" cy="3152775"/>
          </a:xfrm>
          <a:prstGeom prst="roundRect">
            <a:avLst>
              <a:gd name="adj" fmla="val 48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2150715"/>
            <a:ext cx="5019675" cy="1666875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4008090"/>
            <a:ext cx="5019675" cy="1666875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150715"/>
            <a:ext cx="57150" cy="166687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4008090"/>
            <a:ext cx="57150" cy="1666875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3169890"/>
            <a:ext cx="209550" cy="2190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3608040"/>
            <a:ext cx="209550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4046190"/>
            <a:ext cx="209550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4484340"/>
            <a:ext cx="209550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4922490"/>
            <a:ext cx="209550" cy="2190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2563EB"/>
                </a:solidFill>
                <a:latin typeface="Inter"/>
              </a:rPr>
              <a:t>TOPIC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62000"/>
            <a:ext cx="11582400" cy="434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1" sz="2850" i="0" u="none">
                <a:solidFill>
                  <a:srgbClr val="0F172A"/>
                </a:solidFill>
                <a:latin typeface="Inter"/>
              </a:rPr>
              <a:t>Project Overview &amp; Charter Highlights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8400" y="2650777"/>
            <a:ext cx="594360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2563EB"/>
                </a:solidFill>
                <a:latin typeface="Inter"/>
              </a:rPr>
              <a:t>Key SMART Targets (24 Weeks)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5350" y="2379315"/>
            <a:ext cx="5913239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991B1B"/>
                </a:solidFill>
                <a:latin typeface="Inter"/>
              </a:rPr>
              <a:t>Problem Statement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350" y="2731740"/>
            <a:ext cx="4600575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Inter"/>
              </a:rPr>
              <a:t>Women home businesses lack central channels, causing fragmented sales via social media and messaging apps.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5350" y="4236690"/>
            <a:ext cx="5913239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66534"/>
                </a:solidFill>
                <a:latin typeface="Inter"/>
              </a:rPr>
              <a:t>Proposed 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5350" y="4589115"/>
            <a:ext cx="4600575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Inter"/>
              </a:rPr>
              <a:t>Mobile-friendly web marketplace with seller listings, customer checkout, admin console, and delivery coordination.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2250" y="3136552"/>
            <a:ext cx="5619750" cy="285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334155"/>
                </a:solidFill>
                <a:latin typeface="Inter"/>
              </a:rPr>
              <a:t>MVP Build: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 Delivered within 16 weeks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2250" y="3574702"/>
            <a:ext cx="5619750" cy="285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334155"/>
                </a:solidFill>
                <a:latin typeface="Inter"/>
              </a:rPr>
              <a:t>Sellers: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 15 active sellers recruited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72250" y="4012852"/>
            <a:ext cx="5619750" cy="285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334155"/>
                </a:solidFill>
                <a:latin typeface="Inter"/>
              </a:rPr>
              <a:t>Listings: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 75 approved product listings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72250" y="4451002"/>
            <a:ext cx="5619750" cy="285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334155"/>
                </a:solidFill>
                <a:latin typeface="Inter"/>
              </a:rPr>
              <a:t>Fulfilment: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 ≥70% order fulfilment in pilot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72250" y="4889152"/>
            <a:ext cx="5619750" cy="285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334155"/>
                </a:solidFill>
                <a:latin typeface="Inter"/>
              </a:rPr>
              <a:t>Satisfaction: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 ≥4/5 avg score (20+ responses)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74552"/>
            <a:ext cx="5334000" cy="3076575"/>
          </a:xfrm>
          <a:prstGeom prst="roundRect">
            <a:avLst>
              <a:gd name="adj" fmla="val 4953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374552"/>
            <a:ext cx="5334000" cy="3076575"/>
          </a:xfrm>
          <a:prstGeom prst="roundRect">
            <a:avLst>
              <a:gd name="adj" fmla="val 4953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712690"/>
            <a:ext cx="247650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2712690"/>
            <a:ext cx="247650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2563EB"/>
                </a:solidFill>
                <a:latin typeface="Inter"/>
              </a:rPr>
              <a:t>TOPIC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62000"/>
            <a:ext cx="11582400" cy="434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1" sz="2850" i="0" u="none">
                <a:solidFill>
                  <a:srgbClr val="0F172A"/>
                </a:solidFill>
                <a:latin typeface="Inter"/>
              </a:rPr>
              <a:t>Scope Boundaries &amp; Core 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5875" y="2688877"/>
            <a:ext cx="5795724" cy="2952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950" i="0" u="none">
                <a:solidFill>
                  <a:srgbClr val="166534"/>
                </a:solidFill>
                <a:latin typeface="Inter"/>
              </a:rPr>
              <a:t>Strictly In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24675" y="2688877"/>
            <a:ext cx="5267325" cy="2952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950" i="0" u="none">
                <a:solidFill>
                  <a:srgbClr val="991B1B"/>
                </a:solidFill>
                <a:latin typeface="Inter"/>
              </a:rPr>
              <a:t>Out of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174652"/>
            <a:ext cx="5881687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Inter"/>
              </a:rPr>
              <a:t>• Responsive web marketplace (MVP)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593752"/>
            <a:ext cx="5881687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Inter"/>
              </a:rPr>
              <a:t>• Single-seller cart checkout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4012852"/>
            <a:ext cx="5881687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Inter"/>
              </a:rPr>
              <a:t>• Admin moderation console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4431952"/>
            <a:ext cx="5881687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Inter"/>
              </a:rPr>
              <a:t>• Cash-on-delivery + 1 online payment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4851052"/>
            <a:ext cx="5881687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Inter"/>
              </a:rPr>
              <a:t>• Basic seller sales summaries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3174652"/>
            <a:ext cx="56292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Inter"/>
              </a:rPr>
              <a:t>• Native iOS/Android mobile apps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2725" y="3593752"/>
            <a:ext cx="56292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Inter"/>
              </a:rPr>
              <a:t>• Multi-seller combined cart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4012852"/>
            <a:ext cx="56292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Inter"/>
              </a:rPr>
              <a:t>• Own delivery fleet or warehousing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2725" y="4431952"/>
            <a:ext cx="56292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Inter"/>
              </a:rPr>
              <a:t>• AI recommendations / Loyalty 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2725" y="4851052"/>
            <a:ext cx="56292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Inter"/>
              </a:rPr>
              <a:t>• Paid seller subscriptions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1855440"/>
          <a:ext cx="10972797" cy="41148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092374"/>
                <a:gridCol w="2053083"/>
                <a:gridCol w="1178718"/>
                <a:gridCol w="5648622"/>
              </a:tblGrid>
              <a:tr h="587828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F172A"/>
                          </a:solidFill>
                          <a:latin typeface="Inter"/>
                        </a:rPr>
                        <a:t>ID / Deliverable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F172A"/>
                          </a:solidFill>
                          <a:latin typeface="Inter"/>
                        </a:rPr>
                        <a:t>Owner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F172A"/>
                          </a:solidFill>
                          <a:latin typeface="Inter"/>
                        </a:rPr>
                        <a:t>Due Date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F172A"/>
                          </a:solidFill>
                          <a:latin typeface="Inter"/>
                        </a:rPr>
                        <a:t>Acceptance Criteria / Evidence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334155"/>
                          </a:solidFill>
                          <a:latin typeface="Inter"/>
                        </a:rPr>
                        <a:t>D1: Scope Baseline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Product Owner / BA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Week 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Approved problem statement, REQ-01–08, scope &amp; journeys.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334155"/>
                          </a:solidFill>
                          <a:latin typeface="Inter"/>
                        </a:rPr>
                        <a:t>D2: UI/UX Designs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UX/UI Lead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Week 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Clickable prototype reviewed; key flows approved.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334155"/>
                          </a:solidFill>
                          <a:latin typeface="Inter"/>
                        </a:rPr>
                        <a:t>D3: Web MVP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Development Lead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Week 14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Seller onboarding, order tracking &amp; admin console ready.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334155"/>
                          </a:solidFill>
                          <a:latin typeface="Inter"/>
                        </a:rPr>
                        <a:t>D4: QA &amp; Security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QA Lead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Week 16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Zero critical defects; security &amp; access checks passed.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334155"/>
                          </a:solidFill>
                          <a:latin typeface="Inter"/>
                        </a:rPr>
                        <a:t>D5: Pilot Evaluation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Operations Lead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Week 24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8-week pilot targets met (15 sellers, 70% fulfilment).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334155"/>
                          </a:solidFill>
                          <a:latin typeface="Inter"/>
                        </a:rPr>
                        <a:t>D6: Handover Pack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Project Manager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Week 24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User/admin guides, operations steps &amp; lessons learned.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457200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2563EB"/>
                </a:solidFill>
                <a:latin typeface="Inter"/>
              </a:rPr>
              <a:t>TOPIC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62000"/>
            <a:ext cx="11582400" cy="434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1" sz="2850" i="0" u="none">
                <a:solidFill>
                  <a:srgbClr val="0F172A"/>
                </a:solidFill>
                <a:latin typeface="Inter"/>
              </a:rPr>
              <a:t>Key Deliverables Baseline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55515"/>
            <a:ext cx="3505200" cy="1343025"/>
          </a:xfrm>
          <a:prstGeom prst="roundRect">
            <a:avLst>
              <a:gd name="adj" fmla="val 85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455515"/>
            <a:ext cx="3505200" cy="1343025"/>
          </a:xfrm>
          <a:prstGeom prst="roundRect">
            <a:avLst>
              <a:gd name="adj" fmla="val 85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455515"/>
            <a:ext cx="3505200" cy="1343025"/>
          </a:xfrm>
          <a:prstGeom prst="roundRect">
            <a:avLst>
              <a:gd name="adj" fmla="val 85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027140"/>
            <a:ext cx="3505200" cy="1343025"/>
          </a:xfrm>
          <a:prstGeom prst="roundRect">
            <a:avLst>
              <a:gd name="adj" fmla="val 85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43400" y="4027140"/>
            <a:ext cx="3505200" cy="1343025"/>
          </a:xfrm>
          <a:prstGeom prst="roundRect">
            <a:avLst>
              <a:gd name="adj" fmla="val 85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77200" y="4027140"/>
            <a:ext cx="3505200" cy="1343025"/>
          </a:xfrm>
          <a:prstGeom prst="roundRect">
            <a:avLst>
              <a:gd name="adj" fmla="val 85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2563EB"/>
                </a:solidFill>
                <a:latin typeface="Inter"/>
              </a:rPr>
              <a:t>TOPIC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62000"/>
            <a:ext cx="11582400" cy="434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1" sz="2850" i="0" u="none">
                <a:solidFill>
                  <a:srgbClr val="0F172A"/>
                </a:solidFill>
                <a:latin typeface="Inter"/>
              </a:rPr>
              <a:t>Work Breakdown Structure (WBS)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2693640"/>
            <a:ext cx="397549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2563EB"/>
                </a:solidFill>
                <a:latin typeface="Inter"/>
              </a:rPr>
              <a:t>1.0 Initiation &amp;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017490"/>
            <a:ext cx="31242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0" sz="1425" i="0" u="none">
                <a:solidFill>
                  <a:srgbClr val="334155"/>
                </a:solidFill>
                <a:latin typeface="Inter"/>
              </a:rPr>
              <a:t>Baseline REQ-01 to REQ-08 (Weeks 1–2).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525" y="2693640"/>
            <a:ext cx="397549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2563EB"/>
                </a:solidFill>
                <a:latin typeface="Inter"/>
              </a:rPr>
              <a:t>2.0 UI/UX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525" y="3017490"/>
            <a:ext cx="31242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0" sz="1425" i="0" u="none">
                <a:solidFill>
                  <a:srgbClr val="334155"/>
                </a:solidFill>
                <a:latin typeface="Inter"/>
              </a:rPr>
              <a:t>Clickable prototype &amp; flows (Weeks 3–5).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5325" y="2693640"/>
            <a:ext cx="38766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2563EB"/>
                </a:solidFill>
                <a:latin typeface="Inter"/>
              </a:rPr>
              <a:t>3.0 MVP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5325" y="3017490"/>
            <a:ext cx="31242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0" sz="1425" i="0" u="none">
                <a:solidFill>
                  <a:srgbClr val="334155"/>
                </a:solidFill>
                <a:latin typeface="Inter"/>
              </a:rPr>
              <a:t>Core features development (Weeks 6–14).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4265265"/>
            <a:ext cx="397549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2563EB"/>
                </a:solidFill>
                <a:latin typeface="Inter"/>
              </a:rPr>
              <a:t>4.0 QA &amp; 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4589115"/>
            <a:ext cx="31242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0" sz="1425" i="0" u="none">
                <a:solidFill>
                  <a:srgbClr val="334155"/>
                </a:solidFill>
                <a:latin typeface="Inter"/>
              </a:rPr>
              <a:t>Testing &amp; defect closure (Weeks 15–16).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525" y="4265265"/>
            <a:ext cx="397549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2563EB"/>
                </a:solidFill>
                <a:latin typeface="Inter"/>
              </a:rPr>
              <a:t>5.0 Pilot Execution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1525" y="4589115"/>
            <a:ext cx="31242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0" sz="1425" i="0" u="none">
                <a:solidFill>
                  <a:srgbClr val="334155"/>
                </a:solidFill>
                <a:latin typeface="Inter"/>
              </a:rPr>
              <a:t>Onboarding &amp; 8-wk run (Weeks 17–24).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5325" y="4265265"/>
            <a:ext cx="38766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2563EB"/>
                </a:solidFill>
                <a:latin typeface="Inter"/>
              </a:rPr>
              <a:t>6.0 Handover Pack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5325" y="4589115"/>
            <a:ext cx="31242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0" sz="1425" i="0" u="none">
                <a:solidFill>
                  <a:srgbClr val="334155"/>
                </a:solidFill>
                <a:latin typeface="Inter"/>
              </a:rPr>
              <a:t>Operations guide &amp; close (Week 24).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2563EB"/>
                </a:solidFill>
                <a:latin typeface="Inter"/>
              </a:rPr>
              <a:t>TOPIC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762000"/>
            <a:ext cx="11582400" cy="434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1" sz="2850" i="0" u="none">
                <a:solidFill>
                  <a:srgbClr val="0F172A"/>
                </a:solidFill>
                <a:latin typeface="Inter"/>
              </a:rPr>
              <a:t>Project Roadmap &amp;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1100" y="3446115"/>
            <a:ext cx="98298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630709" y="321751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49129" y="321751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867548" y="321751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85968" y="321751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104387" y="321751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87834" y="3217515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5297" y="3827115"/>
            <a:ext cx="264802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1" sz="1200" i="0" u="none">
                <a:solidFill>
                  <a:srgbClr val="2563EB"/>
                </a:solidFill>
                <a:latin typeface="Inter"/>
              </a:rPr>
              <a:t>2 DEC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5297" y="4093815"/>
            <a:ext cx="2648024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Management Plan Submission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6254" y="3217515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3717" y="3827115"/>
            <a:ext cx="264802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1" sz="1200" i="0" u="none">
                <a:solidFill>
                  <a:srgbClr val="2563EB"/>
                </a:solidFill>
                <a:latin typeface="Inter"/>
              </a:rPr>
              <a:t>WEEK 2 (19 DEC)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3717" y="4093815"/>
            <a:ext cx="2648024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D1 Scope Baseline Approval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24673" y="3217515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2136" y="3827115"/>
            <a:ext cx="264802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1" sz="1200" i="0" u="none">
                <a:solidFill>
                  <a:srgbClr val="2563EB"/>
                </a:solidFill>
                <a:latin typeface="Inter"/>
              </a:rPr>
              <a:t>WEEK 5 (9 JAN)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2136" y="4093815"/>
            <a:ext cx="2648024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D2 UI/UX Prototype Approval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43093" y="3217515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90556" y="3827115"/>
            <a:ext cx="264802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1" sz="1200" i="0" u="none">
                <a:solidFill>
                  <a:srgbClr val="2563EB"/>
                </a:solidFill>
                <a:latin typeface="Inter"/>
              </a:rPr>
              <a:t>WEEK 14 (13 MAR)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90556" y="4093815"/>
            <a:ext cx="2648024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D3 Web MVP Complete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1512" y="3217515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8975" y="3827115"/>
            <a:ext cx="264802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1" sz="1200" i="0" u="none">
                <a:solidFill>
                  <a:srgbClr val="16A34A"/>
                </a:solidFill>
                <a:latin typeface="Inter"/>
              </a:rPr>
              <a:t>WEEKS 17–24 (MAY)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8975" y="4093815"/>
            <a:ext cx="2648024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D5 Pilot Launch &amp; Handover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1426815"/>
          <a:ext cx="10972799" cy="49720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698974"/>
                <a:gridCol w="4918769"/>
                <a:gridCol w="2355056"/>
              </a:tblGrid>
              <a:tr h="710292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334155"/>
                          </a:solidFill>
                          <a:latin typeface="Inter"/>
                        </a:rPr>
                        <a:t>Role Title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334155"/>
                          </a:solidFill>
                          <a:latin typeface="Inter"/>
                        </a:rPr>
                        <a:t>Primary Responsibility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334155"/>
                          </a:solidFill>
                          <a:latin typeface="Inter"/>
                        </a:rPr>
                        <a:t>RACI Role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710292"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334155"/>
                          </a:solidFill>
                          <a:latin typeface="Inter"/>
                        </a:rPr>
                        <a:t>Project Manager (Basant Ahmed)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Planning, coordination, risk tracking, and status reporting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2563EB"/>
                          </a:solidFill>
                          <a:latin typeface="Inter"/>
                        </a:rPr>
                        <a:t>Responsible (R)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10292"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334155"/>
                          </a:solidFill>
                          <a:latin typeface="Inter"/>
                        </a:rPr>
                        <a:t>Product Owner / BA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Requirements baseline, scope, and user consultation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DC2626"/>
                          </a:solidFill>
                          <a:latin typeface="Inter"/>
                        </a:rPr>
                        <a:t>Accountable (A)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10292"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334155"/>
                          </a:solidFill>
                          <a:latin typeface="Inter"/>
                        </a:rPr>
                        <a:t>UX/UI Lead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User flows, responsive screens, and prototype design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2563EB"/>
                          </a:solidFill>
                          <a:latin typeface="Inter"/>
                        </a:rPr>
                        <a:t>Responsible (R)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10292"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334155"/>
                          </a:solidFill>
                          <a:latin typeface="Inter"/>
                        </a:rPr>
                        <a:t>Development Lead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MVP build, system architecture, and tech implementation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2563EB"/>
                          </a:solidFill>
                          <a:latin typeface="Inter"/>
                        </a:rPr>
                        <a:t>Responsible (R)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10292"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334155"/>
                          </a:solidFill>
                          <a:latin typeface="Inter"/>
                        </a:rPr>
                        <a:t>QA &amp; Operations Lead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Testing, seller onboarding, delivery, and pilot execution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2563EB"/>
                          </a:solidFill>
                          <a:latin typeface="Inter"/>
                        </a:rPr>
                        <a:t>Responsible (R)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10298"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334155"/>
                          </a:solidFill>
                          <a:latin typeface="Inter"/>
                        </a:rPr>
                        <a:t>Project Sponsor (Yassmine El Sharkawy)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Budget, provider approval, and deliverable sign-offs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16A34A"/>
                          </a:solidFill>
                          <a:latin typeface="Inter"/>
                        </a:rPr>
                        <a:t>Approver / Accountable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457200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2563EB"/>
                </a:solidFill>
                <a:latin typeface="Inter"/>
              </a:rPr>
              <a:t>TOPIC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62000"/>
            <a:ext cx="11582400" cy="434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1" sz="2850" i="0" u="none">
                <a:solidFill>
                  <a:srgbClr val="0F172A"/>
                </a:solidFill>
                <a:latin typeface="Inter"/>
              </a:rPr>
              <a:t>Team Roles &amp; RACI Structure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36490"/>
            <a:ext cx="3479750" cy="2552700"/>
          </a:xfrm>
          <a:prstGeom prst="roundRect">
            <a:avLst>
              <a:gd name="adj" fmla="val 447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56050" y="2765077"/>
            <a:ext cx="3479750" cy="2295525"/>
          </a:xfrm>
          <a:prstGeom prst="roundRect">
            <a:avLst>
              <a:gd name="adj" fmla="val 497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02500" y="2765077"/>
            <a:ext cx="3479750" cy="2295525"/>
          </a:xfrm>
          <a:prstGeom prst="roundRect">
            <a:avLst>
              <a:gd name="adj" fmla="val 497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636490"/>
            <a:ext cx="347975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56050" y="2765077"/>
            <a:ext cx="3479750" cy="571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02500" y="2765077"/>
            <a:ext cx="3479750" cy="5715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2563EB"/>
                </a:solidFill>
                <a:latin typeface="Inter"/>
              </a:rPr>
              <a:t>TOPIC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62000"/>
            <a:ext cx="11582400" cy="434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1" sz="2850" i="0" u="none">
                <a:solidFill>
                  <a:srgbClr val="0F172A"/>
                </a:solidFill>
                <a:latin typeface="Inter"/>
              </a:rPr>
              <a:t>Communication Cadence &amp; Governance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98440"/>
            <a:ext cx="3767072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Team Check-in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8965"/>
            <a:ext cx="29654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64748B"/>
                </a:solidFill>
                <a:latin typeface="Inter"/>
              </a:rPr>
              <a:t>Frequency:</a:t>
            </a:r>
            <a:r>
              <a:rPr b="0" sz="1350" i="0" u="none">
                <a:solidFill>
                  <a:srgbClr val="64748B"/>
                </a:solidFill>
                <a:latin typeface="Inter"/>
              </a:rPr>
              <a:t> Weekly (Twice weekly W12-16)</a:t>
            </a:r>
            <a:r>
              <a:t>
</a:t>
            </a:r>
            <a:r>
              <a:rPr b="1" sz="1350" i="0" u="none">
                <a:solidFill>
                  <a:srgbClr val="64748B"/>
                </a:solidFill>
                <a:latin typeface="Inter"/>
              </a:rPr>
              <a:t>Channel:</a:t>
            </a:r>
            <a:r>
              <a:rPr b="0" sz="1350" i="0" u="none">
                <a:solidFill>
                  <a:srgbClr val="64748B"/>
                </a:solidFill>
                <a:latin typeface="Inter"/>
              </a:rPr>
              <a:t> Meeting / Chat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12890"/>
            <a:ext cx="29654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334155"/>
                </a:solidFill>
                <a:latin typeface="Inter"/>
              </a:rPr>
              <a:t>Focus: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 Blockers &amp; progress updates.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0850" y="3127027"/>
            <a:ext cx="3767072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Sponsor Update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0850" y="3517552"/>
            <a:ext cx="29654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64748B"/>
                </a:solidFill>
                <a:latin typeface="Inter"/>
              </a:rPr>
              <a:t>Frequency:</a:t>
            </a:r>
            <a:r>
              <a:rPr b="0" sz="1350" i="0" u="none">
                <a:solidFill>
                  <a:srgbClr val="64748B"/>
                </a:solidFill>
                <a:latin typeface="Inter"/>
              </a:rPr>
              <a:t> Every 2 weeks</a:t>
            </a:r>
            <a:r>
              <a:t>
</a:t>
            </a:r>
            <a:r>
              <a:rPr b="1" sz="1350" i="0" u="none">
                <a:solidFill>
                  <a:srgbClr val="64748B"/>
                </a:solidFill>
                <a:latin typeface="Inter"/>
              </a:rPr>
              <a:t>Channel:</a:t>
            </a:r>
            <a:r>
              <a:rPr b="0" sz="1350" i="0" u="none">
                <a:solidFill>
                  <a:srgbClr val="64748B"/>
                </a:solidFill>
                <a:latin typeface="Inter"/>
              </a:rPr>
              <a:t> 30-min meeting + email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0850" y="4184302"/>
            <a:ext cx="29654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334155"/>
                </a:solidFill>
                <a:latin typeface="Inter"/>
              </a:rPr>
              <a:t>Focus: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 Status reports &amp; decisions.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300" y="3127027"/>
            <a:ext cx="3767072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Pilot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7300" y="3517552"/>
            <a:ext cx="29654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64748B"/>
                </a:solidFill>
                <a:latin typeface="Inter"/>
              </a:rPr>
              <a:t>Frequency:</a:t>
            </a:r>
            <a:r>
              <a:rPr b="0" sz="1350" i="0" u="none">
                <a:solidFill>
                  <a:srgbClr val="64748B"/>
                </a:solidFill>
                <a:latin typeface="Inter"/>
              </a:rPr>
              <a:t> Weekly (Weeks 17–24)</a:t>
            </a:r>
            <a:r>
              <a:t>
</a:t>
            </a:r>
            <a:r>
              <a:rPr b="1" sz="1350" i="0" u="none">
                <a:solidFill>
                  <a:srgbClr val="64748B"/>
                </a:solidFill>
                <a:latin typeface="Inter"/>
              </a:rPr>
              <a:t>Channel:</a:t>
            </a:r>
            <a:r>
              <a:rPr b="0" sz="1350" i="0" u="none">
                <a:solidFill>
                  <a:srgbClr val="64748B"/>
                </a:solidFill>
                <a:latin typeface="Inter"/>
              </a:rPr>
              <a:t> Messaging group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7300" y="4184302"/>
            <a:ext cx="29654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334155"/>
                </a:solidFill>
                <a:latin typeface="Inter"/>
              </a:rPr>
              <a:t>Focus: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 Seller/customer feedback.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699843" y="3165127"/>
            <a:ext cx="1009650" cy="333375"/>
          </a:xfrm>
          <a:prstGeom prst="roundRect">
            <a:avLst>
              <a:gd name="adj" fmla="val 17142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699843" y="3750915"/>
            <a:ext cx="1009650" cy="333375"/>
          </a:xfrm>
          <a:prstGeom prst="roundRect">
            <a:avLst>
              <a:gd name="adj" fmla="val 17142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699843" y="4336702"/>
            <a:ext cx="990600" cy="333375"/>
          </a:xfrm>
          <a:prstGeom prst="roundRect">
            <a:avLst>
              <a:gd name="adj" fmla="val 17142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699843" y="4922490"/>
            <a:ext cx="990600" cy="333375"/>
          </a:xfrm>
          <a:prstGeom prst="roundRect">
            <a:avLst>
              <a:gd name="adj" fmla="val 17142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600" y="2441227"/>
          <a:ext cx="10972799" cy="294322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937843"/>
                <a:gridCol w="1365349"/>
                <a:gridCol w="5669607"/>
              </a:tblGrid>
              <a:tr h="588645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334155"/>
                          </a:solidFill>
                          <a:latin typeface="Inter"/>
                        </a:rPr>
                        <a:t>Risk Description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334155"/>
                          </a:solidFill>
                          <a:latin typeface="Inter"/>
                        </a:rPr>
                        <a:t>Score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334155"/>
                          </a:solidFill>
                          <a:latin typeface="Inter"/>
                        </a:rPr>
                        <a:t>Mitigation Strategy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334155"/>
                          </a:solidFill>
                          <a:latin typeface="Inter"/>
                        </a:rPr>
                        <a:t>R1: Scope Expansion (e.g. mobile apps)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Freeze baseline at D1; enforce strict change control process.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334155"/>
                          </a:solidFill>
                          <a:latin typeface="Inter"/>
                        </a:rPr>
                        <a:t>R2: Low Seller Recruitment (&lt;15 sellers)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Start recruitment early via local women's groups.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334155"/>
                          </a:solidFill>
                          <a:latin typeface="Inter"/>
                        </a:rPr>
                        <a:t>R3: Payment/Delivery Integration Delay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Early sandbox testing; cash-on-delivery fallback.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334155"/>
                          </a:solidFill>
                          <a:latin typeface="Inter"/>
                        </a:rPr>
                        <a:t>R4: Low Pilot Fulfilment / Satisfaction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Seller onboarding training and fast complaint handling.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9600" y="457200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2563EB"/>
                </a:solidFill>
                <a:latin typeface="Inter"/>
              </a:rPr>
              <a:t>TOPIC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62000"/>
            <a:ext cx="11582400" cy="434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1" sz="2850" i="0" u="none">
                <a:solidFill>
                  <a:srgbClr val="0F172A"/>
                </a:solidFill>
                <a:latin typeface="Inter"/>
              </a:rPr>
              <a:t>Top Project Risks &amp; Mitigation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14143" y="3222277"/>
            <a:ext cx="10668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1" sz="1425" i="0" u="none">
                <a:solidFill>
                  <a:srgbClr val="DC2626"/>
                </a:solidFill>
                <a:latin typeface="Inter"/>
              </a:rPr>
              <a:t>16 (High)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4143" y="3808065"/>
            <a:ext cx="10668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1" sz="1425" i="0" u="none">
                <a:solidFill>
                  <a:srgbClr val="DC2626"/>
                </a:solidFill>
                <a:latin typeface="Inter"/>
              </a:rPr>
              <a:t>15 (High)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4143" y="4393852"/>
            <a:ext cx="1047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1" sz="1425" i="0" u="none">
                <a:solidFill>
                  <a:srgbClr val="D97706"/>
                </a:solidFill>
                <a:latin typeface="Inter"/>
              </a:rPr>
              <a:t>12 (Med)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4143" y="4979640"/>
            <a:ext cx="1047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1" sz="1425" i="0" u="none">
                <a:solidFill>
                  <a:srgbClr val="D97706"/>
                </a:solidFill>
                <a:latin typeface="Inter"/>
              </a:rPr>
              <a:t>12 (Med)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150715"/>
            <a:ext cx="5372100" cy="1647825"/>
          </a:xfrm>
          <a:prstGeom prst="roundRect">
            <a:avLst>
              <a:gd name="adj" fmla="val 69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150715"/>
            <a:ext cx="5372100" cy="1647825"/>
          </a:xfrm>
          <a:prstGeom prst="roundRect">
            <a:avLst>
              <a:gd name="adj" fmla="val 69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027140"/>
            <a:ext cx="5372100" cy="1647825"/>
          </a:xfrm>
          <a:prstGeom prst="roundRect">
            <a:avLst>
              <a:gd name="adj" fmla="val 69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4027140"/>
            <a:ext cx="5372100" cy="1647825"/>
          </a:xfrm>
          <a:prstGeom prst="roundRect">
            <a:avLst>
              <a:gd name="adj" fmla="val 69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2563EB"/>
                </a:solidFill>
                <a:latin typeface="Inter"/>
              </a:rPr>
              <a:t>TOPIC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62000"/>
            <a:ext cx="11582400" cy="434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1" sz="2850" i="0" u="none">
                <a:solidFill>
                  <a:srgbClr val="0F172A"/>
                </a:solidFill>
                <a:latin typeface="Inter"/>
              </a:rPr>
              <a:t>Key Logs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2388840"/>
            <a:ext cx="611981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EF4444"/>
                </a:solidFill>
                <a:latin typeface="Inter"/>
              </a:rPr>
              <a:t>ISSUE I-01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2674590"/>
            <a:ext cx="6119812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334155"/>
                </a:solidFill>
                <a:latin typeface="Inter"/>
              </a:rPr>
              <a:t>Budget, launch area, and providers unconfirmed.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017490"/>
            <a:ext cx="6119812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64748B"/>
                </a:solidFill>
                <a:latin typeface="Inter"/>
              </a:rPr>
              <a:t>Action:</a:t>
            </a:r>
            <a:r>
              <a:rPr b="0" sz="1350" i="0" u="none">
                <a:solidFill>
                  <a:srgbClr val="64748B"/>
                </a:solidFill>
                <a:latin typeface="Inter"/>
              </a:rPr>
              <a:t> Confirm with Sponsor by Week 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8425" y="2388840"/>
            <a:ext cx="57435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B82F6"/>
                </a:solidFill>
                <a:latin typeface="Inter"/>
              </a:rPr>
              <a:t>ASSUMPTION A-01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8425" y="2674590"/>
            <a:ext cx="49911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334155"/>
                </a:solidFill>
                <a:latin typeface="Inter"/>
              </a:rPr>
              <a:t>Sellers/customers have smartphone &amp; internet access.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8425" y="3303240"/>
            <a:ext cx="574357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64748B"/>
                </a:solidFill>
                <a:latin typeface="Inter"/>
              </a:rPr>
              <a:t>Action:</a:t>
            </a:r>
            <a:r>
              <a:rPr b="0" sz="1350" i="0" u="none">
                <a:solidFill>
                  <a:srgbClr val="64748B"/>
                </a:solidFill>
                <a:latin typeface="Inter"/>
              </a:rPr>
              <a:t> Validate via survey by Week 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4265265"/>
            <a:ext cx="611981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DEPENDENCY D-02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4551015"/>
            <a:ext cx="6119812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334155"/>
                </a:solidFill>
                <a:latin typeface="Inter"/>
              </a:rPr>
              <a:t>Online payment requires third-party sandbox access.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4893915"/>
            <a:ext cx="6119812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64748B"/>
                </a:solidFill>
                <a:latin typeface="Inter"/>
              </a:rPr>
              <a:t>Action:</a:t>
            </a:r>
            <a:r>
              <a:rPr b="0" sz="1350" i="0" u="none">
                <a:solidFill>
                  <a:srgbClr val="64748B"/>
                </a:solidFill>
                <a:latin typeface="Inter"/>
              </a:rPr>
              <a:t> Request provider access by Week 3.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8425" y="4265265"/>
            <a:ext cx="57435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0F172A"/>
                </a:solidFill>
                <a:latin typeface="Inter"/>
              </a:rPr>
              <a:t>DECISION DEC-01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8425" y="4551015"/>
            <a:ext cx="49911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334155"/>
                </a:solidFill>
                <a:latin typeface="Inter"/>
              </a:rPr>
              <a:t>Responsive web MVP (no native apps) for 16-wk launch.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8425" y="5179665"/>
            <a:ext cx="574357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Status:</a:t>
            </a:r>
            <a:r>
              <a:rPr b="1" sz="1350" i="0" u="none">
                <a:solidFill>
                  <a:srgbClr val="0F172A"/>
                </a:solidFill>
                <a:latin typeface="Inter"/>
              </a:rPr>
              <a:t> Closed.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96100" y="2836515"/>
            <a:ext cx="4686300" cy="2152650"/>
          </a:xfrm>
          <a:prstGeom prst="roundRect">
            <a:avLst>
              <a:gd name="adj" fmla="val 7079"/>
            </a:avLst>
          </a:prstGeom>
          <a:solidFill>
            <a:srgbClr val="EFF6FF"/>
          </a:solidFill>
          <a:ln w="1905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2353121"/>
          <a:ext cx="5943599" cy="3119437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4109144"/>
                <a:gridCol w="1834455"/>
              </a:tblGrid>
              <a:tr h="519906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334155"/>
                          </a:solidFill>
                          <a:latin typeface="Inter"/>
                        </a:rPr>
                        <a:t>Item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500" i="0" u="none">
                          <a:solidFill>
                            <a:srgbClr val="334155"/>
                          </a:solidFill>
                          <a:latin typeface="Inter"/>
                        </a:rPr>
                        <a:t>Est. Cost (EGP)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19906"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Domain Name (1 Year)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800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9906"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Web Hosting / Cloud Server (6 Mos)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3,600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9906"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SMS / Messaging Allowance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1,500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9906"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Seller Onboarding Sessions (3 Sessions)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4,500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9907"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Recruitment Materials &amp; Test Deliveries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3,000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457200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2563EB"/>
                </a:solidFill>
                <a:latin typeface="Inter"/>
              </a:rPr>
              <a:t>TOPIC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62000"/>
            <a:ext cx="11582400" cy="434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1" sz="2850" i="0" u="none">
                <a:solidFill>
                  <a:srgbClr val="0F172A"/>
                </a:solidFill>
                <a:latin typeface="Inter"/>
              </a:rPr>
              <a:t>Resource &amp; Budget Allocation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2750" y="3198465"/>
            <a:ext cx="49530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1" sz="1350" i="0" u="none">
                <a:solidFill>
                  <a:srgbClr val="1D4ED8"/>
                </a:solidFill>
                <a:latin typeface="Inter"/>
              </a:rPr>
              <a:t>TOTAL DRAFT BUDGET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2750" y="3569940"/>
            <a:ext cx="495300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b="1" sz="3600" i="0" u="none">
                <a:solidFill>
                  <a:srgbClr val="1E40AF"/>
                </a:solidFill>
                <a:latin typeface="Inter"/>
              </a:rPr>
              <a:t>15,840 </a:t>
            </a:r>
            <a:r>
              <a:rPr b="1" sz="1800" i="0" u="none">
                <a:solidFill>
                  <a:srgbClr val="1E40AF"/>
                </a:solidFill>
                <a:latin typeface="Inter"/>
              </a:rPr>
              <a:t>EGP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2750" y="4370040"/>
            <a:ext cx="49530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3B82F6"/>
                </a:solidFill>
                <a:latin typeface="Inter"/>
              </a:rPr>
              <a:t>Includes 10% Contingency (1,440 EGP)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646140"/>
            <a:ext cx="10972800" cy="1581150"/>
          </a:xfrm>
          <a:prstGeom prst="roundRect">
            <a:avLst>
              <a:gd name="adj" fmla="val 9638"/>
            </a:avLst>
          </a:prstGeom>
          <a:solidFill>
            <a:srgbClr val="FFFBEB"/>
          </a:solidFill>
          <a:ln w="9525">
            <a:solidFill>
              <a:srgbClr val="FEF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598390"/>
            <a:ext cx="2628900" cy="704850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390900" y="2598390"/>
            <a:ext cx="2628900" cy="704850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72200" y="2598390"/>
            <a:ext cx="2628900" cy="704850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53500" y="2598390"/>
            <a:ext cx="2628900" cy="704850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2563EB"/>
                </a:solidFill>
                <a:latin typeface="Inter"/>
              </a:rPr>
              <a:t>TOPIC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62000"/>
            <a:ext cx="11582400" cy="434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1" sz="2850" i="0" u="none">
                <a:solidFill>
                  <a:srgbClr val="0F172A"/>
                </a:solidFill>
                <a:latin typeface="Inter"/>
              </a:rPr>
              <a:t>Change Control Workflow &amp; Proposals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922365"/>
            <a:ext cx="113061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B45309"/>
                </a:solidFill>
                <a:latin typeface="Inter"/>
              </a:rPr>
              <a:t>Logged Deferral Proposals (Outside MVP Scope)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367" y="2798415"/>
            <a:ext cx="292536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2563EB"/>
                </a:solidFill>
                <a:latin typeface="Inter"/>
              </a:rPr>
              <a:t>1. Log Request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2667" y="2798415"/>
            <a:ext cx="292536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2563EB"/>
                </a:solidFill>
                <a:latin typeface="Inter"/>
              </a:rPr>
              <a:t>2. Assess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23967" y="2798415"/>
            <a:ext cx="292536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2563EB"/>
                </a:solidFill>
                <a:latin typeface="Inter"/>
              </a:rPr>
              <a:t>3. Sponsor Decision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05267" y="2798415"/>
            <a:ext cx="292536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2563EB"/>
                </a:solidFill>
                <a:latin typeface="Inter"/>
              </a:rPr>
              <a:t>4. Update 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4284315"/>
            <a:ext cx="113061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Inter"/>
              </a:rPr>
              <a:t>• </a:t>
            </a:r>
            <a:r>
              <a:rPr b="1" sz="1500" i="0" u="none">
                <a:solidFill>
                  <a:srgbClr val="334155"/>
                </a:solidFill>
                <a:latin typeface="Inter"/>
              </a:rPr>
              <a:t>CR-01: Multi-seller combined cart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 → Proposed Deferral to Future Release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4665315"/>
            <a:ext cx="113061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Inter"/>
              </a:rPr>
              <a:t>• </a:t>
            </a:r>
            <a:r>
              <a:rPr b="1" sz="1500" i="0" u="none">
                <a:solidFill>
                  <a:srgbClr val="334155"/>
                </a:solidFill>
                <a:latin typeface="Inter"/>
              </a:rPr>
              <a:t>CR-02: Native mobile apps (iOS/Android)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 → Proposed Deferral to Future Release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98402"/>
            <a:ext cx="5334000" cy="2428875"/>
          </a:xfrm>
          <a:prstGeom prst="roundRect">
            <a:avLst>
              <a:gd name="adj" fmla="val 627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841277"/>
            <a:ext cx="5334000" cy="2143125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2563EB"/>
                </a:solidFill>
                <a:latin typeface="Inter"/>
              </a:rPr>
              <a:t>TOPIC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62000"/>
            <a:ext cx="11582400" cy="434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1" sz="2850" i="0" u="none">
                <a:solidFill>
                  <a:srgbClr val="0F172A"/>
                </a:solidFill>
                <a:latin typeface="Inter"/>
              </a:rPr>
              <a:t>Document Standards &amp; Repository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012727"/>
            <a:ext cx="617577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2563EB"/>
                </a:solidFill>
                <a:latin typeface="Inter"/>
              </a:rPr>
              <a:t>Naming &amp; Versioning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441352"/>
            <a:ext cx="5881687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334155"/>
                </a:solidFill>
                <a:latin typeface="Inter"/>
              </a:rPr>
              <a:t>Format: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 YYYY-MM-DD_WHBBM_Name_vX.X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841402"/>
            <a:ext cx="5881687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334155"/>
                </a:solidFill>
                <a:latin typeface="Inter"/>
              </a:rPr>
              <a:t>Drafts: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 v0.1 | </a:t>
            </a:r>
            <a:r>
              <a:rPr b="1" sz="1500" i="0" u="none">
                <a:solidFill>
                  <a:srgbClr val="334155"/>
                </a:solidFill>
                <a:latin typeface="Inter"/>
              </a:rPr>
              <a:t>Approved: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 v1.0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4241452"/>
            <a:ext cx="48006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334155"/>
                </a:solidFill>
                <a:latin typeface="Inter"/>
              </a:rPr>
              <a:t>Location: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 Shared Team Folder (01_Charter to 08_Final_Submission)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725" y="3155602"/>
            <a:ext cx="56292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2563EB"/>
                </a:solidFill>
                <a:latin typeface="Inter"/>
              </a:rPr>
              <a:t>Privacy &amp;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5" y="3584227"/>
            <a:ext cx="56292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Inter"/>
              </a:rPr>
              <a:t>• Role-based access for seller/customer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3984277"/>
            <a:ext cx="56292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Inter"/>
              </a:rPr>
              <a:t>• No payment card details stored by team.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4384327"/>
            <a:ext cx="56292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Inter"/>
              </a:rPr>
              <a:t>• Code repo backed up via cloud hosting.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93690"/>
            <a:ext cx="4404419" cy="1638300"/>
          </a:xfrm>
          <a:prstGeom prst="roundRect">
            <a:avLst>
              <a:gd name="adj" fmla="val 9302"/>
            </a:avLst>
          </a:prstGeom>
          <a:solidFill>
            <a:srgbClr val="FFFBEB"/>
          </a:solidFill>
          <a:ln w="1905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18819" y="2822227"/>
            <a:ext cx="6263580" cy="2181225"/>
          </a:xfrm>
          <a:prstGeom prst="roundRect">
            <a:avLst>
              <a:gd name="adj" fmla="val 69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92584" y="3341340"/>
            <a:ext cx="2838450" cy="3810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2563EB"/>
                </a:solidFill>
                <a:latin typeface="Inter"/>
              </a:rPr>
              <a:t>TOPIC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62000"/>
            <a:ext cx="11582400" cy="434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1" sz="2850" i="0" u="none">
                <a:solidFill>
                  <a:srgbClr val="0F172A"/>
                </a:solidFill>
                <a:latin typeface="Inter"/>
              </a:rPr>
              <a:t>Progress Monitoring Indicators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8278" y="3417540"/>
            <a:ext cx="316706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F8FAFC"/>
                </a:solidFill>
                <a:latin typeface="Inter"/>
              </a:rPr>
              <a:t>OVERALL STATUS: AMBER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3860" y="3836640"/>
            <a:ext cx="4695899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78350F"/>
                </a:solidFill>
                <a:latin typeface="Inter"/>
              </a:rPr>
              <a:t>Provisional Status: Pending budget &amp; provider confirmation (I-01) in Week 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33144" y="3136552"/>
            <a:ext cx="655885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DC2626"/>
                </a:solidFill>
                <a:latin typeface="Inter"/>
              </a:rPr>
              <a:t>Pilot Warning Indicators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33144" y="3565177"/>
            <a:ext cx="655885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Inter"/>
              </a:rPr>
              <a:t>• </a:t>
            </a:r>
            <a:r>
              <a:rPr b="1" sz="1500" i="0" u="none">
                <a:solidFill>
                  <a:srgbClr val="334155"/>
                </a:solidFill>
                <a:latin typeface="Inter"/>
              </a:rPr>
              <a:t>Recruitment: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 &lt;8 sellers by Week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33144" y="3984277"/>
            <a:ext cx="655885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Inter"/>
              </a:rPr>
              <a:t>• </a:t>
            </a:r>
            <a:r>
              <a:rPr b="1" sz="1500" i="0" u="none">
                <a:solidFill>
                  <a:srgbClr val="334155"/>
                </a:solidFill>
                <a:latin typeface="Inter"/>
              </a:rPr>
              <a:t>Defects: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 Any open critical defect in W15-16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33144" y="4403377"/>
            <a:ext cx="655885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Inter"/>
              </a:rPr>
              <a:t>• </a:t>
            </a:r>
            <a:r>
              <a:rPr b="1" sz="1500" i="0" u="none">
                <a:solidFill>
                  <a:srgbClr val="334155"/>
                </a:solidFill>
                <a:latin typeface="Inter"/>
              </a:rPr>
              <a:t>Fulfilment: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 &lt;70% for 2 consecutive weeks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2265015"/>
          <a:ext cx="10972798" cy="32956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732186"/>
                <a:gridCol w="3347144"/>
                <a:gridCol w="4893468"/>
              </a:tblGrid>
              <a:tr h="659130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334155"/>
                          </a:solidFill>
                          <a:latin typeface="Inter"/>
                        </a:rPr>
                        <a:t>Stakeholder Group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334155"/>
                          </a:solidFill>
                          <a:latin typeface="Inter"/>
                        </a:rPr>
                        <a:t>Expectation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334155"/>
                          </a:solidFill>
                          <a:latin typeface="Inter"/>
                        </a:rPr>
                        <a:t>Engagement Channel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659130"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334155"/>
                          </a:solidFill>
                          <a:latin typeface="Inter"/>
                        </a:rPr>
                        <a:t>Home Business Owners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Onboarding support &amp; order visibility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Interviews (W1-2), Prototype (W5), Weekly pilot support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9130"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334155"/>
                          </a:solidFill>
                          <a:latin typeface="Inter"/>
                        </a:rPr>
                        <a:t>Customers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Easy browsing &amp; smooth checkout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Survey (W1-2), Usability testing (W15-16)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9130"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334155"/>
                          </a:solidFill>
                          <a:latin typeface="Inter"/>
                        </a:rPr>
                        <a:t>Project Sponsor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Clear progress &amp; risk tracking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Bi-weekly meetings &amp; milestone reviews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9130"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334155"/>
                          </a:solidFill>
                          <a:latin typeface="Inter"/>
                        </a:rPr>
                        <a:t>Payment &amp; Delivery Partners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Clear API integration specs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Sandbox testing &amp; bi-weekly syncs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457200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2563EB"/>
                </a:solidFill>
                <a:latin typeface="Inter"/>
              </a:rPr>
              <a:t>TOPIC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62000"/>
            <a:ext cx="11582400" cy="434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1" sz="2850" i="0" u="none">
                <a:solidFill>
                  <a:srgbClr val="0F172A"/>
                </a:solidFill>
                <a:latin typeface="Inter"/>
              </a:rPr>
              <a:t>Stakeholder Engagement Matrix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67458"/>
            <a:ext cx="3479750" cy="2290762"/>
          </a:xfrm>
          <a:prstGeom prst="roundRect">
            <a:avLst>
              <a:gd name="adj" fmla="val 665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56050" y="2767458"/>
            <a:ext cx="3479750" cy="2290762"/>
          </a:xfrm>
          <a:prstGeom prst="roundRect">
            <a:avLst>
              <a:gd name="adj" fmla="val 665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02500" y="2767458"/>
            <a:ext cx="3479750" cy="2290762"/>
          </a:xfrm>
          <a:prstGeom prst="roundRect">
            <a:avLst>
              <a:gd name="adj" fmla="val 665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081783"/>
            <a:ext cx="428625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375" y="3081783"/>
            <a:ext cx="428625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6825" y="3081783"/>
            <a:ext cx="342900" cy="342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2563EB"/>
                </a:solidFill>
                <a:latin typeface="Inter"/>
              </a:rPr>
              <a:t>TOPIC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62000"/>
            <a:ext cx="11582400" cy="434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1" sz="2850" i="0" u="none">
                <a:solidFill>
                  <a:srgbClr val="0F172A"/>
                </a:solidFill>
                <a:latin typeface="Inter"/>
              </a:rPr>
              <a:t>Ethics &amp; Data Governance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577083"/>
            <a:ext cx="3742069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Data Privacy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929508"/>
            <a:ext cx="2946350" cy="814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0" sz="1425" i="0" u="none">
                <a:solidFill>
                  <a:srgbClr val="334155"/>
                </a:solidFill>
                <a:latin typeface="Inter"/>
              </a:rPr>
              <a:t>Informed consent for user research; strictly store minimal customer &amp; seller contact details.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0375" y="3577083"/>
            <a:ext cx="3742069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Fair Practice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0375" y="3929508"/>
            <a:ext cx="2946350" cy="814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0" sz="1425" i="0" u="none">
                <a:solidFill>
                  <a:srgbClr val="334155"/>
                </a:solidFill>
                <a:latin typeface="Inter"/>
              </a:rPr>
              <a:t>Transparent seller onboarding and listing moderation; no fake feedback or fabricated 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6825" y="3577083"/>
            <a:ext cx="3742069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Responsible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6825" y="3929508"/>
            <a:ext cx="2946350" cy="814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0" sz="1425" i="0" u="none">
                <a:solidFill>
                  <a:srgbClr val="334155"/>
                </a:solidFill>
                <a:latin typeface="Inter"/>
              </a:rPr>
              <a:t>Verify all AI outputs, disclose tool usage, and maintain full academic accountability.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2262633"/>
          <a:ext cx="10972798" cy="3300412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606301"/>
                <a:gridCol w="6468516"/>
                <a:gridCol w="2897981"/>
              </a:tblGrid>
              <a:tr h="550068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334155"/>
                          </a:solidFill>
                          <a:latin typeface="Inter"/>
                        </a:rPr>
                        <a:t>Timeline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334155"/>
                          </a:solidFill>
                          <a:latin typeface="Inter"/>
                        </a:rPr>
                        <a:t>Key Action Item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334155"/>
                          </a:solidFill>
                          <a:latin typeface="Inter"/>
                        </a:rPr>
                        <a:t>Owner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50068"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334155"/>
                          </a:solidFill>
                          <a:latin typeface="Inter"/>
                        </a:rPr>
                        <a:t>Week 1–2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Confirm budget, launch area &amp; approve D1 scope baseline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Project Manager / Sponsor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50068"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334155"/>
                          </a:solidFill>
                          <a:latin typeface="Inter"/>
                        </a:rPr>
                        <a:t>Weeks 3–5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Validate prototype (D2) &amp; request payment sandbox access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UX/UI &amp; Payments Lead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50068"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334155"/>
                          </a:solidFill>
                          <a:latin typeface="Inter"/>
                        </a:rPr>
                        <a:t>Weeks 6–14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Build web MVP (D3) &amp; track recruitment at Week 12 checkpoint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Development &amp; Ops Lead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50068"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334155"/>
                          </a:solidFill>
                          <a:latin typeface="Inter"/>
                        </a:rPr>
                        <a:t>Weeks 15–16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Execute QA, security checks &amp; close critical defects (D4)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QA Lead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50072">
                <a:tc>
                  <a:txBody>
                    <a:bodyPr/>
                    <a:lstStyle/>
                    <a:p>
                      <a:pPr algn="l"/>
                      <a:r>
                        <a:rPr b="1" sz="1425" i="0" u="none">
                          <a:solidFill>
                            <a:srgbClr val="334155"/>
                          </a:solidFill>
                          <a:latin typeface="Inter"/>
                        </a:rPr>
                        <a:t>Weeks 17–24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Run 8-week pilot (D5), track KPIs &amp; finalize handover pack (D6)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25" i="0" u="none">
                          <a:solidFill>
                            <a:srgbClr val="334155"/>
                          </a:solidFill>
                          <a:latin typeface="Inter"/>
                        </a:rPr>
                        <a:t>Operations &amp; PM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457200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2563EB"/>
                </a:solidFill>
                <a:latin typeface="Inter"/>
              </a:rPr>
              <a:t>TOPIC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62000"/>
            <a:ext cx="11582400" cy="434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1" sz="2850" i="0" u="none">
                <a:solidFill>
                  <a:srgbClr val="0F172A"/>
                </a:solidFill>
                <a:latin typeface="Inter"/>
              </a:rPr>
              <a:t>Weekly Team Action Tracker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591175"/>
            <a:ext cx="10972800" cy="8096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714500" y="2593627"/>
            <a:ext cx="2667000" cy="1638300"/>
          </a:xfrm>
          <a:prstGeom prst="roundRect">
            <a:avLst>
              <a:gd name="adj" fmla="val 9302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762500" y="2593627"/>
            <a:ext cx="2667000" cy="1638300"/>
          </a:xfrm>
          <a:prstGeom prst="roundRect">
            <a:avLst>
              <a:gd name="adj" fmla="val 9302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810500" y="2322165"/>
            <a:ext cx="2667000" cy="2181225"/>
          </a:xfrm>
          <a:prstGeom prst="roundRect">
            <a:avLst>
              <a:gd name="adj" fmla="val 698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5591175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737" y="3727102"/>
            <a:ext cx="1333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737" y="3727102"/>
            <a:ext cx="1333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2450" y="3769965"/>
            <a:ext cx="15240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-381000" y="457200"/>
            <a:ext cx="12954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1" sz="1200" i="0" u="none">
                <a:solidFill>
                  <a:srgbClr val="60A5FA"/>
                </a:solidFill>
                <a:latin typeface="Inter"/>
              </a:rPr>
              <a:t>TOPIC 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381000" y="762000"/>
            <a:ext cx="12954000" cy="434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420"/>
              </a:lnSpc>
            </a:pPr>
            <a:r>
              <a:rPr b="1" sz="2850" i="0" u="none">
                <a:solidFill>
                  <a:srgbClr val="FFFFFF"/>
                </a:solidFill>
                <a:latin typeface="Inter"/>
              </a:rPr>
              <a:t>Approval &amp; Project Commitment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381000" y="5791200"/>
            <a:ext cx="12954000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PROJECT MANAGEMENT PLAN COMPLETE — Thank You!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381000" y="6143625"/>
            <a:ext cx="129540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Home 2 Home (WHBBM) is ready for baseline approval and execution. | Questions &amp; Discussion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26406" y="2907952"/>
            <a:ext cx="2643187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1" sz="1650" i="0" u="none">
                <a:solidFill>
                  <a:srgbClr val="FFFFFF"/>
                </a:solidFill>
                <a:latin typeface="Inter"/>
              </a:rPr>
              <a:t>Basant Ahmed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26406" y="3279427"/>
            <a:ext cx="2643187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Project Manager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26406" y="3689002"/>
            <a:ext cx="2643187" cy="228600"/>
          </a:xfrm>
          <a:prstGeom prst="rect">
            <a:avLst/>
          </a:prstGeom>
          <a:noFill/>
        </p:spPr>
        <p:txBody>
          <a:bodyPr wrap="none" lIns="13335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1" sz="1200" i="0" u="none">
                <a:solidFill>
                  <a:srgbClr val="4ADE80"/>
                </a:solidFill>
                <a:latin typeface="Inter"/>
              </a:rPr>
              <a:t>Confirmed: 15 Oct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4406" y="2907952"/>
            <a:ext cx="2643187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1" sz="1650" i="0" u="none">
                <a:solidFill>
                  <a:srgbClr val="FFFFFF"/>
                </a:solidFill>
                <a:latin typeface="Inter"/>
              </a:rPr>
              <a:t>Nouran Salem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4406" y="3279427"/>
            <a:ext cx="2643187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Team Representative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4406" y="3689002"/>
            <a:ext cx="2643187" cy="228600"/>
          </a:xfrm>
          <a:prstGeom prst="rect">
            <a:avLst/>
          </a:prstGeom>
          <a:noFill/>
        </p:spPr>
        <p:txBody>
          <a:bodyPr wrap="none" lIns="13335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1" sz="1200" i="0" u="none">
                <a:solidFill>
                  <a:srgbClr val="4ADE80"/>
                </a:solidFill>
                <a:latin typeface="Inter"/>
              </a:rPr>
              <a:t>Confirmed: 15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22406" y="2636490"/>
            <a:ext cx="2643187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1" sz="1650" i="0" u="none">
                <a:solidFill>
                  <a:srgbClr val="FFFFFF"/>
                </a:solidFill>
                <a:latin typeface="Inter"/>
              </a:rPr>
              <a:t>Yassmine El Sharkawy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22406" y="3322290"/>
            <a:ext cx="2643187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Supervisor / Assessor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22406" y="3731865"/>
            <a:ext cx="2643187" cy="457200"/>
          </a:xfrm>
          <a:prstGeom prst="rect">
            <a:avLst/>
          </a:prstGeom>
          <a:noFill/>
        </p:spPr>
        <p:txBody>
          <a:bodyPr wrap="square" lIns="15240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1" sz="1200" i="0" u="none">
                <a:solidFill>
                  <a:srgbClr val="FACC15"/>
                </a:solidFill>
                <a:latin typeface="Inter"/>
              </a:rPr>
              <a:t>Pending Final v1.0 Sign-off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